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a4a9633c48b4576" /><Relationship Type="http://schemas.openxmlformats.org/officeDocument/2006/relationships/extended-properties" Target="/docProps/app.xml" Id="R54edf1dec1cb4ee7" /><Relationship Type="http://schemas.openxmlformats.org/officeDocument/2006/relationships/officeDocument" Target="/ppt/presentation.xml" Id="Rb7f17685f9a0464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1534e9f8bec4098"/>
  </p:sldMasterIdLst>
  <p:notesMasterIdLst>
    <p:notesMasterId xmlns:r="http://schemas.openxmlformats.org/officeDocument/2006/relationships" r:id="Rc4adc150803c4bba"/>
  </p:notesMasterIdLst>
  <p:sldIdLst>
    <p:sldId xmlns:r="http://schemas.openxmlformats.org/officeDocument/2006/relationships" id="256" r:id="R6e6b4a2b8a0b4356"/>
    <p:sldId xmlns:r="http://schemas.openxmlformats.org/officeDocument/2006/relationships" id="257" r:id="R30836cd2624e4e2b"/>
    <p:sldId xmlns:r="http://schemas.openxmlformats.org/officeDocument/2006/relationships" id="258" r:id="Ra99f8feaa9be4db0"/>
    <p:sldId xmlns:r="http://schemas.openxmlformats.org/officeDocument/2006/relationships" id="259" r:id="R9606165e2c9f4b26"/>
    <p:sldId xmlns:r="http://schemas.openxmlformats.org/officeDocument/2006/relationships" id="260" r:id="Rd1366ddf0d304b72"/>
    <p:sldId xmlns:r="http://schemas.openxmlformats.org/officeDocument/2006/relationships" id="261" r:id="R53a81be314cd4557"/>
    <p:sldId xmlns:r="http://schemas.openxmlformats.org/officeDocument/2006/relationships" id="262" r:id="R69c0b9fa9d3c45da"/>
    <p:sldId xmlns:r="http://schemas.openxmlformats.org/officeDocument/2006/relationships" id="263" r:id="R5fc9f19f40124f52"/>
    <p:sldId xmlns:r="http://schemas.openxmlformats.org/officeDocument/2006/relationships" id="264" r:id="Re72a5a8d202e4af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bf653e486874638" /><Relationship Type="http://schemas.openxmlformats.org/officeDocument/2006/relationships/slideMaster" Target="/ppt/slideMasters/slideMaster1.xml" Id="R91534e9f8bec4098" /><Relationship Type="http://schemas.openxmlformats.org/officeDocument/2006/relationships/notesMaster" Target="/ppt/notesMasters/notesMaster1.xml" Id="Rc4adc150803c4bba" /><Relationship Type="http://schemas.openxmlformats.org/officeDocument/2006/relationships/presProps" Target="/ppt/presProps.xml" Id="R031eac5aeaae48eb" /><Relationship Type="http://schemas.openxmlformats.org/officeDocument/2006/relationships/tableStyles" Target="/ppt/tableStyles.xml" Id="Rbd0d2eaf3ac9436e" /><Relationship Type="http://schemas.openxmlformats.org/officeDocument/2006/relationships/slide" Target="/ppt/slides/slide1.xml" Id="R6e6b4a2b8a0b4356" /><Relationship Type="http://schemas.openxmlformats.org/officeDocument/2006/relationships/slide" Target="/ppt/slides/slide2.xml" Id="R30836cd2624e4e2b" /><Relationship Type="http://schemas.openxmlformats.org/officeDocument/2006/relationships/slide" Target="/ppt/slides/slide3.xml" Id="Ra99f8feaa9be4db0" /><Relationship Type="http://schemas.openxmlformats.org/officeDocument/2006/relationships/slide" Target="/ppt/slides/slide4.xml" Id="R9606165e2c9f4b26" /><Relationship Type="http://schemas.openxmlformats.org/officeDocument/2006/relationships/slide" Target="/ppt/slides/slide5.xml" Id="Rd1366ddf0d304b72" /><Relationship Type="http://schemas.openxmlformats.org/officeDocument/2006/relationships/slide" Target="/ppt/slides/slide6.xml" Id="R53a81be314cd4557" /><Relationship Type="http://schemas.openxmlformats.org/officeDocument/2006/relationships/slide" Target="/ppt/slides/slide7.xml" Id="R69c0b9fa9d3c45da" /><Relationship Type="http://schemas.openxmlformats.org/officeDocument/2006/relationships/slide" Target="/ppt/slides/slide8.xml" Id="R5fc9f19f40124f52" /><Relationship Type="http://schemas.openxmlformats.org/officeDocument/2006/relationships/slide" Target="/ppt/slides/slide9.xml" Id="Re72a5a8d202e4af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ee8c74773524454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46cd951e4b54412" /><Relationship Type="http://schemas.openxmlformats.org/officeDocument/2006/relationships/notesMaster" Target="/ppt/notesMasters/notesMaster1.xml" Id="R95eae366eeef4e7d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9a799fa19b84232" /><Relationship Type="http://schemas.openxmlformats.org/officeDocument/2006/relationships/notesMaster" Target="/ppt/notesMasters/notesMaster1.xml" Id="R64c60789cf1840c3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18580f23c9194cfa" /><Relationship Type="http://schemas.openxmlformats.org/officeDocument/2006/relationships/notesMaster" Target="/ppt/notesMasters/notesMaster1.xml" Id="R0f4698b880bb47f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249d477cd0ec482e" /><Relationship Type="http://schemas.openxmlformats.org/officeDocument/2006/relationships/notesMaster" Target="/ppt/notesMasters/notesMaster1.xml" Id="R3b3fbb46a101460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e2b6ccacfa3641b4" /><Relationship Type="http://schemas.openxmlformats.org/officeDocument/2006/relationships/notesMaster" Target="/ppt/notesMasters/notesMaster1.xml" Id="R652be5c7ec764015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32cfe7a9abf41f1" /><Relationship Type="http://schemas.openxmlformats.org/officeDocument/2006/relationships/notesMaster" Target="/ppt/notesMasters/notesMaster1.xml" Id="R1b41e0ac1f764ee0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0b7ac43bb112450c" /><Relationship Type="http://schemas.openxmlformats.org/officeDocument/2006/relationships/notesMaster" Target="/ppt/notesMasters/notesMaster1.xml" Id="Re5e25e68531c4ce4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2cd78e4388474f09" /><Relationship Type="http://schemas.openxmlformats.org/officeDocument/2006/relationships/notesMaster" Target="/ppt/notesMasters/notesMaster1.xml" Id="R5dd01f7633574fe5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06d1f3618f041b0" /><Relationship Type="http://schemas.openxmlformats.org/officeDocument/2006/relationships/notesMaster" Target="/ppt/notesMasters/notesMaster1.xml" Id="R55a2d2c26415410e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AGENTS.md problem statement and the live vulnerable scan result.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scanner/core.py and scanner/comparison.py.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ARCHITECTURE.md, scanner/core.py, scanner/request_execution.py, and scanner/openapi_parser.py.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submission/screenshots/vulnerable-overview.png. The scan used live HTTP requests after python -m app.seed.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local dashboard capture on 2026-09-24 from submission/screenshots/vulnerable-findings.png. The reproduction request contains a redacted bearer token.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python -m scripts.ci run on 2026-09-25 and tests under tests/. The run completed with 70 passing tests.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live secure control capture on 2026-09-24 from submission/screenshots/secure-clean.png. The cross-user response was HTTP 403.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Source: README.md and AGENTS.md. Hosted persistence exists as a separate foundation, but the scanner remains local-only and does not claim production deployment.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b34a7bc9fd4470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dacd28a4e8d04a92" /><Relationship Type="http://schemas.openxmlformats.org/officeDocument/2006/relationships/slideLayout" Target="/ppt/slideLayouts/slideLayout1.xml" Id="Rc6e98fcb0f4b4557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e98fcb0f4b4557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3d74bf0bfd40b3" /><Relationship Type="http://schemas.openxmlformats.org/officeDocument/2006/relationships/image" Target="/ppt/media/image.png" Id="R2e513a083d8845cd" /><Relationship Type="http://schemas.openxmlformats.org/officeDocument/2006/relationships/notesSlide" Target="/ppt/notesSlides/notesSlide1.xml" Id="R2c348de967df4aa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f47a99c5449bd" /><Relationship Type="http://schemas.openxmlformats.org/officeDocument/2006/relationships/notesSlide" Target="/ppt/notesSlides/notesSlide2.xml" Id="R32d33ac115044e6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22668f145054bd4" /><Relationship Type="http://schemas.openxmlformats.org/officeDocument/2006/relationships/notesSlide" Target="/ppt/notesSlides/notesSlide3.xml" Id="Rbdd1db763aaf4959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007c640f79439d" /><Relationship Type="http://schemas.openxmlformats.org/officeDocument/2006/relationships/notesSlide" Target="/ppt/notesSlides/notesSlide4.xml" Id="R153cda79f0f9447d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8ee0618da8d41da" /><Relationship Type="http://schemas.openxmlformats.org/officeDocument/2006/relationships/image" Target="/ppt/media/image2.png" Id="R6ae9df419a4443e6" /><Relationship Type="http://schemas.openxmlformats.org/officeDocument/2006/relationships/notesSlide" Target="/ppt/notesSlides/notesSlide5.xml" Id="R341f72cb78374671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619bd423c6142b9" /><Relationship Type="http://schemas.openxmlformats.org/officeDocument/2006/relationships/image" Target="/ppt/media/image3.png" Id="R23a434a1e8134a94" /><Relationship Type="http://schemas.openxmlformats.org/officeDocument/2006/relationships/notesSlide" Target="/ppt/notesSlides/notesSlide6.xml" Id="Ra7bf84d119b5434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a1dc662921e4d84" /><Relationship Type="http://schemas.openxmlformats.org/officeDocument/2006/relationships/notesSlide" Target="/ppt/notesSlides/notesSlide7.xml" Id="R1cd9cb03582e48c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56051f7e9454628" /><Relationship Type="http://schemas.openxmlformats.org/officeDocument/2006/relationships/image" Target="/ppt/media/image4.png" Id="R53a0913ba4b845a4" /><Relationship Type="http://schemas.openxmlformats.org/officeDocument/2006/relationships/notesSlide" Target="/ppt/notesSlides/notesSlide8.xml" Id="R2ab2ef9df74b4422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bcdf0b3d6c49ed" /><Relationship Type="http://schemas.openxmlformats.org/officeDocument/2006/relationships/notesSlide" Target="/ppt/notesSlides/notesSlide9.xml" Id="R904256123ead4a6b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6C28F83-2550-47D6-92F3-D9D78B5E9C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14350"/>
            <a:ext cx="3048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AMIHACKS 1.0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F327A58-ACF3-4DBE-99CC-F508C4269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028700"/>
            <a:ext cx="49530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2222"/>
          </a:bodyPr>
          <a:lstStyle xmlns:a="http://schemas.openxmlformats.org/drawingml/2006/main"/>
          <a:p xmlns:a="http://schemas.openxmlformats.org/drawingml/2006/main">
            <a:pPr algn="l">
              <a:defRPr sz="45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45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SentinelAPI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897D36-9998-4EB0-BA46-6F35663B9A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790700"/>
            <a:ext cx="49530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2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2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Proof of broken object access from live API responses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E9D643F-2258-4149-8D97-1906778D3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3048000"/>
            <a:ext cx="447675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 safe, specification-driven scanner for authorized local sandboxes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7ACD103-0995-46F4-8F17-6A2E51966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4095750"/>
            <a:ext cx="2143125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F3511C-D628-4B20-A62A-887BA38E0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171950"/>
            <a:ext cx="1905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 ONLY / SANDBOX</a:t>
            </a:r>
          </a:p>
        </p:txBody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e513a083d8845cd"/>
          <a:srcRect xmlns:a="http://schemas.openxmlformats.org/drawingml/2006/main" l="0" t="8653" r="0" b="86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810250" y="514350"/>
            <a:ext cx="5848350" cy="58102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1F0A907-E59A-4053-A20A-CF256FDD29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86400" y="514350"/>
            <a:ext cx="28575" cy="5810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</p:spTree>
    <p:extLst>
      <p:ext uri="{BB962C8B-B14F-4D97-AF65-F5344CB8AC3E}">
        <p14:creationId xmlns:p14="http://schemas.microsoft.com/office/powerpoint/2010/main" val="1804913522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EA28370-264B-4C54-9B34-1352FDE5FD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BA47729-19BE-4E8C-A86B-A1099EC474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PROBLEM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C698BA-355D-4E94-99DB-C93137EE8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Authentication can succeed while authorization fails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D8A7EAC-1AA7-469C-A3F6-6A8710417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98C92F5-AE5D-4A64-920D-6D918C51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75B26FA-4552-46A4-A0D7-C1930185CE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BA657C0-9534-455D-84B9-502E0B5E8D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714500"/>
            <a:ext cx="28575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84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84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200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60E95DF-3CAB-4820-BA0A-C9B23981F7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3105150"/>
            <a:ext cx="257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7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HTTP response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E0803C9-4A02-4C36-ADFA-E5C5ACE6B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5250" y="1733550"/>
            <a:ext cx="19050" cy="3238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4DFD34-7BD6-443C-A36D-33A8895C62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1638300"/>
            <a:ext cx="647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User A presents a valid token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90CD39-7553-4603-82EF-7DA9711116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2247900"/>
            <a:ext cx="66675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The API checks that the token exists, then returns order 1002 without checking who owns it.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CD00B31-4C08-4D41-820C-EBDE2C0E8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Expected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93DE0A5-EB7C-423B-BBEA-FC27C9297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3905250"/>
            <a:ext cx="333375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HTTP 403 or 404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C21E354-9C11-4FFC-B93A-393E937C6D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581400"/>
            <a:ext cx="14287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111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Observed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0E1C950-09F3-4428-BBE9-05EE38FD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905250"/>
            <a:ext cx="28575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5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25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HTTP 200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18350E9-97E6-4940-A1E6-A3FF91D3FC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81500" y="4895850"/>
            <a:ext cx="666750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Generic signature scanners can miss this because every request is syntactically valid.</a:t>
            </a:r>
          </a:p>
        </p:txBody>
      </p:sp>
    </p:spTree>
    <p:extLst>
      <p:ext uri="{BB962C8B-B14F-4D97-AF65-F5344CB8AC3E}">
        <p14:creationId xmlns:p14="http://schemas.microsoft.com/office/powerpoint/2010/main" val="1000572936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1505891-E3F7-429A-B2B7-A7024B3BB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30E1AC8-B437-4D09-8B5B-93CD4A8DF7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PROPOSED SOLUTION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786956-A22D-41B1-8C2C-6EDFCE8B53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382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controlled users establish ownership before comparison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A43EA8-BA5E-4A1D-A7F1-2E0B8CADA6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7F42F9-F729-40B7-AB43-37DA77A2F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465AB29-DBAD-430E-A34C-10E1D6BC65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EC54B94-A416-40B8-8187-FB73917586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30E8A7F-99F5-4ACC-BBB2-38A14AED72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EF9D092-1902-40F7-8EBF-204453518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Parse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58C031B-0241-422F-878C-A37325C55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Discover authenticated GET object routes from OpenAPI.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62BFEE-0977-4C74-9FFD-1E07835CF8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011BD55-4339-4094-901E-12F2FA040B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F95D442-9CAE-4158-8FF5-8468D2A89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Baseline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8F9F483-8CDA-4257-92E6-6FF540088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Read one owned object for User A and one for User B.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A2DA481-CB5C-4A20-8ACF-37501CD2A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9DA3FBB-CB58-4035-880C-23C9DC2FEE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3ACAC58-80FF-427F-A4AC-F5F228AE9C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Cross-check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FD5CC6F-206E-4F69-AD7D-6A226B3B4B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Request User B's object with User A's token.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5441F4A-5B8B-44A4-A56A-31A304E83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1695450"/>
            <a:ext cx="571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C453784D-2772-4A77-9640-D2070A8CF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095500"/>
            <a:ext cx="23812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C270D6EA-ACE8-4E66-9670-0B13633D4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3241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Prove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2898FD-DE77-40DC-8366-C2EEEF27F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82100" y="2876550"/>
            <a:ext cx="2381250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5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Confirm only when HTTP 200 matches User B's owner response.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60B5E5A5-B1E1-46B3-9DC9-35D5FB3605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762500"/>
            <a:ext cx="11087100" cy="990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1717"/>
          </a:solidFill>
          <a:ln xmlns:a="http://schemas.openxmlformats.org/drawingml/2006/main" w="0">
            <a:noFill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039F9D-D769-4133-95FE-FA7B0F6417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53000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33"/>
          </a:bodyPr>
          <a:lstStyle xmlns:a="http://schemas.openxmlformats.org/drawingml/2006/main"/>
          <a:p xmlns:a="http://schemas.openxmlformats.org/drawingml/2006/main">
            <a:pPr algn="l">
              <a:defRPr sz="120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20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Confirmation policy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2041714-7930-40F8-9FDF-DFA2EB9AA1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4886325"/>
            <a:ext cx="8191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927"/>
          </a:bodyPr>
          <a:lstStyle xmlns:a="http://schemas.openxmlformats.org/drawingml/2006/main"/>
          <a:p xmlns:a="http://schemas.openxmlformats.org/drawingml/2006/main">
            <a:pPr algn="l">
              <a:defRPr sz="1725" b="0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Malformed, mismatched, or failed comparisons remain inconclusive or error. They never become confirmed findings.</a:t>
            </a:r>
          </a:p>
        </p:txBody>
      </p:sp>
    </p:spTree>
    <p:extLst>
      <p:ext uri="{BB962C8B-B14F-4D97-AF65-F5344CB8AC3E}">
        <p14:creationId xmlns:p14="http://schemas.microsoft.com/office/powerpoint/2010/main" val="184996159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E7EC4A0E-4C33-4FE1-B1FF-759AD84D93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EE976D2-7B3B-4988-B491-30EC1811D3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SYSTEM ARCHITECTURE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46A06B-5A9C-4832-8F35-7FE5D64A12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818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bounded path from specification to reproducible evidence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1193617-95DC-46BA-9A01-8D4E2234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4BD4DA8-51DD-44C0-84E9-FED25E7C88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0E884EE-F31B-4552-9717-DD9EC52165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03AB51A-F941-4B17-B888-0BF07261B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9C0DFE9-BF94-4354-B42A-E4C2786DE3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2DD9F89-7873-4D80-9B3B-37E5165597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OpenAPI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88B797C-4B74-45F7-9686-11CAB85CF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Endpoint discovery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CF416A9-6939-440D-B0F9-02545D2A7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3840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AD0D1A2-659F-4700-8436-C03761257C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1940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059492E-521B-4DEC-9293-323F3964B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5E1115B-B6C2-4699-8F03-EC75084D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Two users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C0AE89-D70B-4913-AAA4-BFF540B15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9085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Authentication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DDCB545-D72F-47FF-AFE9-EE3F7E8B8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6FB7D6F-06AA-4CBF-9DD6-77BFC47F43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2445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9DAED0D-149A-4B3E-A52D-7A1DD09FF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CE64C6E-543D-4802-B49E-6FA488E0C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4202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GET requests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73E341E-B4A6-4B69-A5C2-4FB4DE6BA0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9590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Bounded execution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DB88042-B526-40DC-B5FE-86E5A69870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BE3B4937-A7A7-4A04-8E01-6688B5F36D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F23312"/>
            </a:solidFill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A9D4057-78FE-4F3E-BB9F-9A9A70DC6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02F0896-811E-4833-82A5-0BF85ABFEC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Comparison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C4DD69-1225-4D91-A067-6BD0FE7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0095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Ownership policy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CFA787E-34CF-4DBD-A766-D88118F207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53550" y="2657475"/>
            <a:ext cx="381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EA4A1E-F465-49CF-B830-D6DFB200C5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34550" y="1943100"/>
            <a:ext cx="1924050" cy="1466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B9B9B1"/>
            </a:solidFill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AE6FF610-F7DA-4792-B810-09E46C8651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095500"/>
            <a:ext cx="4000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73809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0B8A2A6-67C5-453F-96DE-AE589CBB7B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41935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l">
              <a:defRPr sz="18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Reports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9BE533F-CA43-4948-8DC2-7BC6740D36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0" y="2857500"/>
            <a:ext cx="15811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491"/>
          </a:bodyPr>
          <a:lstStyle xmlns:a="http://schemas.openxmlformats.org/drawingml/2006/main"/>
          <a:p xmlns:a="http://schemas.openxmlformats.org/drawingml/2006/main">
            <a:pPr algn="l">
              <a:defRPr sz="120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20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JSON and Markdown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36592B2B-A811-4C90-8059-A9AF01208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057650"/>
            <a:ext cx="2571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1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1">
                <a:solidFill>
                  <a:srgbClr val="6F6F69"/>
                </a:solidFill>
                <a:latin typeface="Arial"/>
                <a:ea typeface="Arial"/>
                <a:cs typeface="Arial"/>
              </a:rPr>
              <a:t>Server-side controls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8E2043F5-1CD3-4931-A63A-AD5BE9EDE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Loopback targets only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FACE45F-0DA6-4A07-A61C-24CF4E7B1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GET-only scan path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3DA89945-A163-4998-8F9D-A085B6D931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457200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5 second timeout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CFFBB640-708E-45F5-B958-FBFB21CC7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5162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3 endpoint limit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43AA5005-5D19-4C52-AE1C-6068953984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162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1 MB response limit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5BF880F7-6E05-411D-A134-1223EEF5A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20050" y="5162550"/>
            <a:ext cx="3238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6825"/>
          </a:bodyPr>
          <a:lstStyle xmlns:a="http://schemas.openxmlformats.org/drawingml/2006/main"/>
          <a:p xmlns:a="http://schemas.openxmlformats.org/drawingml/2006/main">
            <a:pPr algn="l">
              <a:defRPr sz="1575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Redirects blocked</a:t>
            </a:r>
          </a:p>
        </p:txBody>
      </p:sp>
    </p:spTree>
    <p:extLst>
      <p:ext uri="{BB962C8B-B14F-4D97-AF65-F5344CB8AC3E}">
        <p14:creationId xmlns:p14="http://schemas.microsoft.com/office/powerpoint/2010/main" val="942481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BEA2036-6B71-42B7-AE6E-A968011856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916B842-E244-46E8-8E8C-EA68B46A01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WORKING PROTOTYPE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0350FD0-A0BD-4DDC-AFA1-6DAB99A20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9065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live vulnerable scan produces two confirmed findings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091CF57-CFD7-4102-B415-2C8DBC7870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AA08C3-0A6A-4C43-BBC6-372D390157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905E8F-79E8-407F-9B18-1141EC87A5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6ae9df419a4443e6"/>
          <a:srcRect xmlns:a="http://schemas.openxmlformats.org/drawingml/2006/main" l="0" t="34322" r="0" b="3432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695450"/>
            <a:ext cx="11125200" cy="41910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FF4ACD2-CA78-459E-9C21-2CCB150A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48700" y="1219200"/>
            <a:ext cx="30099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0E745ED-FE47-4140-A915-444276EE28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39200" y="1276350"/>
            <a:ext cx="2628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702"/>
          </a:bodyPr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425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1 Critical  +  1 High</a:t>
            </a:r>
          </a:p>
        </p:txBody>
      </p:sp>
    </p:spTree>
    <p:extLst>
      <p:ext uri="{BB962C8B-B14F-4D97-AF65-F5344CB8AC3E}">
        <p14:creationId xmlns:p14="http://schemas.microsoft.com/office/powerpoint/2010/main" val="540821405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818C1BF-8761-4B86-A385-8D1E7DE9D1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0E7643-E802-491E-847D-7A226C3D74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EXPLAINABLE FINDINGS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B46782-F191-4D32-B5AF-D95D0B5E3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Each finding states the proof, expected behavior, and fix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5A5511-85D9-464E-B00C-3D74CC869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D24DB29-BBE9-480C-8ABE-283497C17C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B20ED7-7CAD-4B0D-A8F8-8DBDA5B37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pic>
        <p:nvPicPr>
          <p:cNvPr id="1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a434a1e8134a94"/>
          <a:srcRect xmlns:a="http://schemas.openxmlformats.org/drawingml/2006/main" l="0" t="30353" r="0" b="3035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33400" y="1447800"/>
            <a:ext cx="11125200" cy="453390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020766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146A1-97F0-445E-B5D9-E708A5D776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161369D-9BBB-4334-B154-6F691F76FB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SAFETY AND VERIFICATION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2D41BF-FE9E-41E9-A5AF-53AC27604B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63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Bounded execution keeps the demo repeatable and low risk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2F839EF-284C-44BE-A413-B979F6C97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35E4177-56FD-4B74-99C6-5A3DCF9C33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7E6868B-4D9B-4D5A-BDC8-DC9D388BD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AEF24C-B9BA-405A-A234-10E3F61E1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76400"/>
            <a:ext cx="20955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5935"/>
          </a:bodyPr>
          <a:lstStyle xmlns:a="http://schemas.openxmlformats.org/drawingml/2006/main"/>
          <a:p xmlns:a="http://schemas.openxmlformats.org/drawingml/2006/main">
            <a:pPr algn="l">
              <a:defRPr sz="61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61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70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57E835-AC1E-4B57-9CAF-7227F50835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2647950"/>
            <a:ext cx="28575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3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3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automated tests passing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F38262-7B8F-4DA1-B1B1-51E713703D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33800" y="1695450"/>
            <a:ext cx="19050" cy="3371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88CC12-269B-45D6-AEAC-8087D4084B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16002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TARGET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C3D1F6E-61FC-4E9F-8D58-C98DEA3F62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15621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localhost, 127.0.0.1, and ::1 only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5D510F3-4225-464B-8F16-2528CFB9A3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1145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03B7B41-686B-49B0-9A31-50DBE6345D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3812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TRAFFIC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82F9493-42F2-42BB-A0D2-B78BD293D5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23431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Bounded GET requests with redirect blocking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DF6DF5D-AAFD-4195-82C9-700AECCA6D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28956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AD21D010-57EF-4E47-B0B0-D1F82AF7AE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1623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EVIDENCE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0B24F22-57BA-4837-8E5E-310DB83BA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1242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Passwords and bearer values redacted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3C0B491-A0CC-4D26-82DE-17A7CCD7B3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67665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35F2308-C413-4618-BBE7-6999EE20C6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394335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DATABASE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22F753-20C7-498D-9E77-86D2B8F2CE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390525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Deterministic reset and non-mutating scans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87E8BD1-E288-4C3E-8259-E9318FE3F8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457700"/>
            <a:ext cx="676275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0B91A593-AD83-4D5E-9C65-6E3C7A3511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48150" y="4724400"/>
            <a:ext cx="1428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050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CONTROLS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813CD0C-D214-4E66-9EA7-9B1A04BDD2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72150" y="4686300"/>
            <a:ext cx="523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Secure 403/404 and mismatched 200 cases</a:t>
            </a:r>
          </a:p>
        </p:txBody>
      </p:sp>
    </p:spTree>
    <p:extLst>
      <p:ext uri="{BB962C8B-B14F-4D97-AF65-F5344CB8AC3E}">
        <p14:creationId xmlns:p14="http://schemas.microsoft.com/office/powerpoint/2010/main" val="1834933223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DA7E9D2-9B89-4314-940F-ECD6A51C5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CE937AF-3579-445C-A12C-6465EDA75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NEGATIVE CONTROL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FC10B4B-5A61-4FD3-8D75-5E327B4E40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secure target returns HTTP 403 and no BOLA finding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D660C48-DCE6-4A92-9A7C-3BAF11F12C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3B052A7-ED8B-4F33-A9C3-5325C46AA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B3A233-2CB4-4E6D-9A05-695C32867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58EFE81-E222-43BE-8DF0-8E10DAA0C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1504950"/>
            <a:ext cx="11125200" cy="3219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EDED8"/>
            </a:solidFill>
          </a:ln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a0913ba4b845a4"/>
          <a:stretch xmlns:a="http://schemas.openxmlformats.org/drawingml/2006/main"/>
        </p:blipFill>
        <p:spPr>
          <a:xfrm xmlns:a="http://schemas.openxmlformats.org/drawingml/2006/main">
            <a:off x="742950" y="1768114"/>
            <a:ext cx="10706100" cy="2635972"/>
          </a:xfrm>
          <a:prstGeom xmlns:a="http://schemas.openxmlformats.org/drawingml/2006/main" prst="rect">
            <a:avLst/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9B4B3B6-A467-46C2-AD6C-9E92B295F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5029200"/>
            <a:ext cx="11125200" cy="8191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6EF"/>
          </a:solidFill>
          <a:ln xmlns:a="http://schemas.openxmlformats.org/drawingml/2006/main" w="9525">
            <a:solidFill>
              <a:srgbClr val="23694E"/>
            </a:solidFill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2CD766-ED54-4CE4-A220-51A3DEFA5B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191125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275" b="1">
                <a:solidFill>
                  <a:srgbClr val="23694E"/>
                </a:solidFill>
                <a:latin typeface="Arial"/>
                <a:ea typeface="Arial"/>
                <a:cs typeface="Arial"/>
              </a:defRPr>
            </a:pPr>
            <a:r>
              <a:rPr sz="1275" b="1">
                <a:solidFill>
                  <a:srgbClr val="23694E"/>
                </a:solidFill>
                <a:latin typeface="Arial"/>
                <a:ea typeface="Arial"/>
                <a:cs typeface="Arial"/>
              </a:rPr>
              <a:t>Why this matters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4D293C-D39A-4D69-8145-14861A39E7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5124450"/>
            <a:ext cx="81915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9411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101010"/>
                </a:solidFill>
                <a:latin typeface="Arial"/>
                <a:ea typeface="Arial"/>
                <a:cs typeface="Arial"/>
              </a:rPr>
              <a:t>The scanner distinguishes a protected API from the vulnerable sandbox instead of reporting a signature-based false positive.</a:t>
            </a:r>
          </a:p>
        </p:txBody>
      </p:sp>
    </p:spTree>
    <p:extLst>
      <p:ext uri="{BB962C8B-B14F-4D97-AF65-F5344CB8AC3E}">
        <p14:creationId xmlns:p14="http://schemas.microsoft.com/office/powerpoint/2010/main" val="349586817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7F7F4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ACF5F1-EB2A-42DB-9C18-9E579CD48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42900"/>
            <a:ext cx="361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0000"/>
          </a:bodyPr>
          <a:lstStyle xmlns:a="http://schemas.openxmlformats.org/drawingml/2006/main"/>
          <a:p xmlns:a="http://schemas.openxmlformats.org/drawingml/2006/main">
            <a:pPr algn="l">
              <a:defRPr sz="1125" b="1">
                <a:solidFill>
                  <a:srgbClr val="F23312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F23312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5211BB7-E2D6-4672-A13A-FB1A5D4FA5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42900"/>
            <a:ext cx="4000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85714"/>
          </a:bodyPr>
          <a:lstStyle xmlns:a="http://schemas.openxmlformats.org/drawingml/2006/main"/>
          <a:p xmlns:a="http://schemas.openxmlformats.org/drawingml/2006/main">
            <a:pPr algn="l">
              <a:defRPr sz="10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0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SCOPE AND FUTURE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B94A165-B07B-445C-AB22-75B259A1C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66750"/>
            <a:ext cx="111252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1930"/>
          </a:bodyPr>
          <a:lstStyle xmlns:a="http://schemas.openxmlformats.org/drawingml/2006/main"/>
          <a:p xmlns:a="http://schemas.openxmlformats.org/drawingml/2006/main">
            <a:pPr algn="l">
              <a:defRPr sz="315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315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A complete local proof with a clear path beyond the hackathon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7901C29-182D-45C7-B80C-4B71BC84FD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496050"/>
            <a:ext cx="11125200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EDED8"/>
          </a:solidFill>
          <a:ln xmlns:a="http://schemas.openxmlformats.org/drawingml/2006/main" w="0">
            <a:noFill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998C3A-F952-435B-B2EA-120FF59AC6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6553200"/>
            <a:ext cx="42862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SENTINELAPI / AUTHORIZED LOCAL TESTING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4E1943-9C82-4222-BC31-93236863DB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144250" y="6553200"/>
            <a:ext cx="514350" cy="171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63636"/>
          </a:bodyPr>
          <a:lstStyle xmlns:a="http://schemas.openxmlformats.org/drawingml/2006/main"/>
          <a:p xmlns:a="http://schemas.openxmlformats.org/drawingml/2006/main">
            <a:pPr algn="r">
              <a:defRPr sz="825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825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09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3758359-3F00-4592-98E5-D56637358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Demonstrated now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605C02-5FDF-4131-B320-EC4B36F2FA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OpenAPI 3.x endpoint discovery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Two-user BOLA proof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Excessive data exposure check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Redacted JSON and Markdown reports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Secure negative control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D445805-1D00-4EB3-BED3-EE6194E54B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581150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9B9B1"/>
          </a:solidFill>
          <a:ln xmlns:a="http://schemas.openxmlformats.org/drawingml/2006/main" w="0">
            <a:noFill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7C83D09-3E5F-4E64-82A7-88EC082828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1619250"/>
            <a:ext cx="4476750" cy="419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01010"/>
                </a:solidFill>
                <a:latin typeface="Arial"/>
                <a:ea typeface="Arial"/>
                <a:cs typeface="Arial"/>
              </a:defRPr>
            </a:pPr>
            <a:r>
              <a:rPr sz="2100" b="1">
                <a:solidFill>
                  <a:srgbClr val="101010"/>
                </a:solidFill>
                <a:latin typeface="Arial"/>
                <a:ea typeface="Arial"/>
                <a:cs typeface="Arial"/>
              </a:rPr>
              <a:t>Future scanner scope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8BC014B-B710-4BB1-B957-E041E5795B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90750"/>
            <a:ext cx="4476750" cy="2476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Configurable authentication profiles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Pagination and nested resources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CI enforcement mode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Additional deterministic checks</a:t>
            </a:r>
          </a:p>
          <a:p xmlns:a="http://schemas.openxmlformats.org/drawingml/2006/main">
            <a:pPr algn="l">
              <a:defRPr sz="1650" b="0">
                <a:solidFill>
                  <a:srgbClr val="6F6F69"/>
                </a:solidFill>
                <a:latin typeface="Arial"/>
                <a:ea typeface="Arial"/>
                <a:cs typeface="Arial"/>
              </a:defRPr>
            </a:pPr>
            <a:r>
              <a:rPr sz="1650" b="0">
                <a:solidFill>
                  <a:srgbClr val="6F6F69"/>
                </a:solidFill>
                <a:latin typeface="Arial"/>
                <a:ea typeface="Arial"/>
                <a:cs typeface="Arial"/>
              </a:rPr>
              <a:t>Deployment after organizer approval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761E58E-7F4C-4975-AC70-C791613027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" y="5429250"/>
            <a:ext cx="104013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3312"/>
          </a:solidFill>
          <a:ln xmlns:a="http://schemas.openxmlformats.org/drawingml/2006/main" w="0">
            <a:noFill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5032621-B110-4374-9979-0FDCF87FE0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514975"/>
            <a:ext cx="99822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 anchor="ctr">
            <a:normAutofit fontScale="98611"/>
          </a:bodyPr>
          <a:lstStyle xmlns:a="http://schemas.openxmlformats.org/drawingml/2006/main"/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Arial"/>
                <a:ea typeface="Arial"/>
                <a:cs typeface="Arial"/>
              </a:defRPr>
            </a:pPr>
            <a:r>
              <a:rPr sz="1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Demo claim: one user received another user's order from live local requests.</a:t>
            </a:r>
          </a:p>
        </p:txBody>
      </p:sp>
    </p:spTree>
    <p:extLst>
      <p:ext uri="{BB962C8B-B14F-4D97-AF65-F5344CB8AC3E}">
        <p14:creationId xmlns:p14="http://schemas.microsoft.com/office/powerpoint/2010/main" val="106860660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2026-09-25T02:24:21.9250000Z</dcterms:created>
  <dcterms:modified xsi:type="dcterms:W3CDTF">2026-09-25T02:24:21.9250000Z</dcterms:modified>
</coreProperties>
</file>