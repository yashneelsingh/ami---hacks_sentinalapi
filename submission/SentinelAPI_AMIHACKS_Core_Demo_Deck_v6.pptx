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e083b6d5346d9" /><Relationship Type="http://schemas.openxmlformats.org/officeDocument/2006/relationships/extended-properties" Target="/docProps/app.xml" Id="R398a4bf1bf9d4da9" /><Relationship Type="http://schemas.openxmlformats.org/officeDocument/2006/relationships/officeDocument" Target="/ppt/presentation.xml" Id="R67bb19b1691e48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4f121402f4623"/>
  </p:sldMasterIdLst>
  <p:notesMasterIdLst>
    <p:notesMasterId xmlns:r="http://schemas.openxmlformats.org/officeDocument/2006/relationships" r:id="R695b3a24574843fb"/>
  </p:notesMasterIdLst>
  <p:sldIdLst>
    <p:sldId xmlns:r="http://schemas.openxmlformats.org/officeDocument/2006/relationships" id="256" r:id="Rd9e0790bd4d94678"/>
    <p:sldId xmlns:r="http://schemas.openxmlformats.org/officeDocument/2006/relationships" id="257" r:id="Rf3f3a5ec49f746dd"/>
    <p:sldId xmlns:r="http://schemas.openxmlformats.org/officeDocument/2006/relationships" id="258" r:id="R6fc83ce510634bfb"/>
    <p:sldId xmlns:r="http://schemas.openxmlformats.org/officeDocument/2006/relationships" id="259" r:id="Rb0e3f0077f4b48cb"/>
    <p:sldId xmlns:r="http://schemas.openxmlformats.org/officeDocument/2006/relationships" id="260" r:id="R8ec87cfd377d4254"/>
    <p:sldId xmlns:r="http://schemas.openxmlformats.org/officeDocument/2006/relationships" id="261" r:id="R742650b7a6f7444f"/>
    <p:sldId xmlns:r="http://schemas.openxmlformats.org/officeDocument/2006/relationships" id="262" r:id="R43d92cf0153d45a1"/>
    <p:sldId xmlns:r="http://schemas.openxmlformats.org/officeDocument/2006/relationships" id="263" r:id="R9e0738c48d104c98"/>
    <p:sldId xmlns:r="http://schemas.openxmlformats.org/officeDocument/2006/relationships" id="264" r:id="R6d7f969668994d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fd8d0d6cb54ffd" /><Relationship Type="http://schemas.openxmlformats.org/officeDocument/2006/relationships/slideMaster" Target="/ppt/slideMasters/slideMaster1.xml" Id="R4bc4f121402f4623" /><Relationship Type="http://schemas.openxmlformats.org/officeDocument/2006/relationships/notesMaster" Target="/ppt/notesMasters/notesMaster1.xml" Id="R695b3a24574843fb" /><Relationship Type="http://schemas.openxmlformats.org/officeDocument/2006/relationships/presProps" Target="/ppt/presProps.xml" Id="R715629383160415d" /><Relationship Type="http://schemas.openxmlformats.org/officeDocument/2006/relationships/tableStyles" Target="/ppt/tableStyles.xml" Id="Re38ecb1719204b37" /><Relationship Type="http://schemas.openxmlformats.org/officeDocument/2006/relationships/slide" Target="/ppt/slides/slide1.xml" Id="Rd9e0790bd4d94678" /><Relationship Type="http://schemas.openxmlformats.org/officeDocument/2006/relationships/slide" Target="/ppt/slides/slide2.xml" Id="Rf3f3a5ec49f746dd" /><Relationship Type="http://schemas.openxmlformats.org/officeDocument/2006/relationships/slide" Target="/ppt/slides/slide3.xml" Id="R6fc83ce510634bfb" /><Relationship Type="http://schemas.openxmlformats.org/officeDocument/2006/relationships/slide" Target="/ppt/slides/slide4.xml" Id="Rb0e3f0077f4b48cb" /><Relationship Type="http://schemas.openxmlformats.org/officeDocument/2006/relationships/slide" Target="/ppt/slides/slide5.xml" Id="R8ec87cfd377d4254" /><Relationship Type="http://schemas.openxmlformats.org/officeDocument/2006/relationships/slide" Target="/ppt/slides/slide6.xml" Id="R742650b7a6f7444f" /><Relationship Type="http://schemas.openxmlformats.org/officeDocument/2006/relationships/slide" Target="/ppt/slides/slide7.xml" Id="R43d92cf0153d45a1" /><Relationship Type="http://schemas.openxmlformats.org/officeDocument/2006/relationships/slide" Target="/ppt/slides/slide8.xml" Id="R9e0738c48d104c98" /><Relationship Type="http://schemas.openxmlformats.org/officeDocument/2006/relationships/slide" Target="/ppt/slides/slide9.xml" Id="R6d7f969668994d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f0fe22bfdf45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9475fcd0be469b" /><Relationship Type="http://schemas.openxmlformats.org/officeDocument/2006/relationships/notesMaster" Target="/ppt/notesMasters/notesMaster1.xml" Id="R6a6e376bb30f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156113ed440b2" /><Relationship Type="http://schemas.openxmlformats.org/officeDocument/2006/relationships/notesMaster" Target="/ppt/notesMasters/notesMaster1.xml" Id="R7bc9104d0a3944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deaa30e10944cc" /><Relationship Type="http://schemas.openxmlformats.org/officeDocument/2006/relationships/notesMaster" Target="/ppt/notesMasters/notesMaster1.xml" Id="Rcb224f5ca5fa44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51ef507f5d4cad" /><Relationship Type="http://schemas.openxmlformats.org/officeDocument/2006/relationships/notesMaster" Target="/ppt/notesMasters/notesMaster1.xml" Id="Rec4a39407940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62199b778c4077" /><Relationship Type="http://schemas.openxmlformats.org/officeDocument/2006/relationships/notesMaster" Target="/ppt/notesMasters/notesMaster1.xml" Id="Ra5cf3bbb07e847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e0a69f29464972" /><Relationship Type="http://schemas.openxmlformats.org/officeDocument/2006/relationships/notesMaster" Target="/ppt/notesMasters/notesMaster1.xml" Id="Re00bd14020ba4a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ec907b3ba44ea1" /><Relationship Type="http://schemas.openxmlformats.org/officeDocument/2006/relationships/notesMaster" Target="/ppt/notesMasters/notesMaster1.xml" Id="R7c12420a671d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e472293c324bfb" /><Relationship Type="http://schemas.openxmlformats.org/officeDocument/2006/relationships/notesMaster" Target="/ppt/notesMasters/notesMaster1.xml" Id="R5efbe032fd0840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ecd591a6f04c21" /><Relationship Type="http://schemas.openxmlformats.org/officeDocument/2006/relationships/notesMaster" Target="/ppt/notesMasters/notesMaster1.xml" Id="R1fcd177724ca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submission/screenshots/vulnerable-overview.png.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and scanner/comparison.py. The vulnerable fixture returns order 1002 to User A with HTTP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scanner/core.py, app/seed.py, and the deterministic demo data described in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SOLUTION_OVERVIEW.md, scanner/checks.py, scanner/report_generator.py, and scanner/redaction.py.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ARCHITECTURE.md and the typed interfaces implemented under scanner/. FastAPI orchestrates the scan and serves the dashboard and report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from submission/screenshots/vulnerable-overview.png. The scan used live HTTP requests after python -m app.seed.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from submission/screenshots/vulnerable-findings.png. The reproduction request redacts the bearer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submission/screenshots/secure-clean.png and python -m scripts.ci on 2026-09-25. The test run completed with 70 passing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AGENTS.md. Hosted persistence exists as a separate foundation, but the scanner remains local-only and does not claim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2ec1eda8a4f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dfc0de032f4f3f" /><Relationship Type="http://schemas.openxmlformats.org/officeDocument/2006/relationships/slideLayout" Target="/ppt/slideLayouts/slideLayout1.xml" Id="R312e9a0cb1904e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e9a0cb1904e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4bedb88274010" /><Relationship Type="http://schemas.openxmlformats.org/officeDocument/2006/relationships/image" Target="/ppt/media/image.png" Id="Re1af4dab5b58416f" /><Relationship Type="http://schemas.openxmlformats.org/officeDocument/2006/relationships/notesSlide" Target="/ppt/notesSlides/notesSlide1.xml" Id="R50243d1922194f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1f07bef614601" /><Relationship Type="http://schemas.openxmlformats.org/officeDocument/2006/relationships/notesSlide" Target="/ppt/notesSlides/notesSlide2.xml" Id="R42bacc210ae1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31136b39b4fbf" /><Relationship Type="http://schemas.openxmlformats.org/officeDocument/2006/relationships/notesSlide" Target="/ppt/notesSlides/notesSlide3.xml" Id="Re3bc45eba48049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b2c18e4734bad" /><Relationship Type="http://schemas.openxmlformats.org/officeDocument/2006/relationships/notesSlide" Target="/ppt/notesSlides/notesSlide4.xml" Id="R5e39254d043841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81c2efafc42db" /><Relationship Type="http://schemas.openxmlformats.org/officeDocument/2006/relationships/notesSlide" Target="/ppt/notesSlides/notesSlide5.xml" Id="R85c3635495d44f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e784e74e149fa" /><Relationship Type="http://schemas.openxmlformats.org/officeDocument/2006/relationships/image" Target="/ppt/media/image2.png" Id="R0bf90502d5b34cd5" /><Relationship Type="http://schemas.openxmlformats.org/officeDocument/2006/relationships/notesSlide" Target="/ppt/notesSlides/notesSlide6.xml" Id="Rb8985c94752f40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dd515b30c4116" /><Relationship Type="http://schemas.openxmlformats.org/officeDocument/2006/relationships/image" Target="/ppt/media/image3.png" Id="R10ee5caba4d646bc" /><Relationship Type="http://schemas.openxmlformats.org/officeDocument/2006/relationships/notesSlide" Target="/ppt/notesSlides/notesSlide7.xml" Id="R18ddd699c2da47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d1017183e4cce" /><Relationship Type="http://schemas.openxmlformats.org/officeDocument/2006/relationships/image" Target="/ppt/media/image4.png" Id="Rfda32141112f4691" /><Relationship Type="http://schemas.openxmlformats.org/officeDocument/2006/relationships/notesSlide" Target="/ppt/notesSlides/notesSlide8.xml" Id="R8e1ef3114ef04e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9273a489141c9" /><Relationship Type="http://schemas.openxmlformats.org/officeDocument/2006/relationships/notesSlide" Target="/ppt/notesSlides/notesSlide9.xml" Id="R9f41d9345db5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4C13C-4881-4B1E-AEEF-A13DDD3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AMIHACKS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7D614-C9EA-4BCC-9421-244BF1A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SentinelAPI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E40CA-1112-485F-A622-60633825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Live proof of broken object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56458-8515-492A-979E-8B898C2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Core functionality, user journey, and technical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8BBD4-D86C-48B1-BC3B-0F7D6E90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F6A77-5FA8-4F7C-8AB4-75A9E361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ONLY / SANDBOX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f4dab5b58416f"/>
          <a:srcRect xmlns:a="http://schemas.openxmlformats.org/drawingml/2006/main" l="0" t="8653" r="0" b="8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514350"/>
            <a:ext cx="5848350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0D76D-A78E-462D-AD27-AC8E75E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4350"/>
            <a:ext cx="285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26570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306C6-365C-4B59-990B-0FA02EE4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954AE-8501-4628-9D51-30D4F64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CORE FUNCTIONALITY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AB3A3-D7CC-4685-95DF-B05B5BD9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 identities turn a valid request into authorization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A9F88-8FAE-459B-A182-0C821A5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525EB-0E42-4454-854A-95BB2AF5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3B79E-5701-4144-B729-3F768737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AEDC6-B66C-4308-BFE4-E8ECF415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2819B-E4D7-42FA-9E62-1FBBEA1D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cross-user HTTP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060F0-261F-4826-96E5-683BF97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35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9B4C1-D18F-4DA2-9B70-2E80375E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User A requests User B's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17F6B-E1AF-44C0-A9FA-3E4AD8FF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first records each user's owned object. It then sends User A's valid token to User B's object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ADD21-6791-4AD5-AA4B-C0345E7F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A623D-7E0E-48F9-8533-5A1EA02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HTTP 403 or 404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C41A0-1453-44AD-A0C2-5C4059EC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Vulnerable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CC957-DE75-4AB4-B16D-854C727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2F33F-7A61-479C-BEAD-8A475C59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Confirmation requires the returned object to match User B's owner baseline.</a:t>
            </a:r>
          </a:p>
        </p:txBody>
      </p:sp>
    </p:spTree>
    <p:extLst>
      <p:ext uri="{BB962C8B-B14F-4D97-AF65-F5344CB8AC3E}">
        <p14:creationId xmlns:p14="http://schemas.microsoft.com/office/powerpoint/2010/main" val="1905822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BD162-6EA7-4923-BE0F-AF2065D2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916E5-79B0-4487-8669-60FA6221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END-TO-END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88838-A16C-4754-BE76-FAB7E926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One scan moves from an OpenAPI file to reproducible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3E7C3-7A89-499A-AD61-CBA9F744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3E1B9-56DF-423F-95D8-E8C57637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8388C-DCE2-4588-A01F-6D0FDC0F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98A9F-E331-443C-A69B-C7A840B1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42FBB-293E-4054-85F6-4EA59CCB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6B629-E609-4587-A3FE-7CBDFB8F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912B0-2425-4D5A-A0E9-95A69B44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Choose the local API origin and OpenAPI 3.x 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77EB3-B0FE-4409-9C00-B91EF74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88067-67AA-46D9-9341-7E3286B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3448F-6463-4541-BF98-3ED23C5D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D1A2F-5A2F-4520-AED0-20562158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Find a supported authenticated collection and detail route.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5AA0E-B767-4560-9AF2-C9064E8B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641CC-9A76-4A9C-80A7-58BD4691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553B0-54DF-435A-918D-2E63002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Authenticate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AD247-E385-4FF3-A8CC-AAA8807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Sign in as two controlled sandbox users.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155DA-7822-4206-8409-719480B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C293B-3ABB-4034-84FD-A4F62966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F5B5D-6721-4A27-9215-038F530D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B43AA-C701-43FE-8425-6113BF4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Read one owned object for each identity.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41B9B-6481-4F4D-8A66-AB1C0FB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354F8-687C-48D5-A4D9-5D58E49C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B68A9-AB30-4F83-869B-6783784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2F70B-D1EA-43CA-94E4-321895D2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Request User B's object with User A's token.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602EC-FC22-4A8D-9B07-70F3CD0B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1F86C-C9EF-4DC3-AE49-30681400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B7EEB-A855-4719-BCF7-D1E23FB4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89027-D209-4734-A573-B67334F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Inspect evidence and download the redacted report.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46F69-AE41-46D8-8EB8-A5AED25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1087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D25A56-BAD8-49BE-99CC-06F78BA0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LIVE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58B17A-A312-42C9-9393-B6AE710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A owns 1001. User B owns 1002. User A receives 1002 from the vulnerable route.</a:t>
            </a:r>
          </a:p>
        </p:txBody>
      </p:sp>
    </p:spTree>
    <p:extLst>
      <p:ext uri="{BB962C8B-B14F-4D97-AF65-F5344CB8AC3E}">
        <p14:creationId xmlns:p14="http://schemas.microsoft.com/office/powerpoint/2010/main" val="19380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E5E02C-2E71-4142-ABFD-BB5F698A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0CE9B-AF9A-4588-B081-AFC9039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321FC-1504-49C2-A09B-85AD68B5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MVP prioritizes reliable proof over broad vulnerability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B4125-741C-4429-B697-E54B47F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904D7-07B2-469C-AF95-311A119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64448-AFA1-4A51-85CA-89BD4F8B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72DCD-7630-4D2C-8F2D-0FC0656A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1B7F4-3E39-41F4-817A-89AF82C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F33B5-54E1-4E7B-8591-406E15B3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Finds supported authenticated object routes from the supplied specification.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A2A32-0B1A-4FC2-BD49-93214968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4E54B-5BA9-4917-B9F5-F1D5A9E0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D5ED9-B220-4525-BF58-1B1AE39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Two-user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1B74A-BD0A-4819-B448-9098C385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Establishes ownership before testing cross-user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EEEA8-1DC0-4542-BAD6-30490E6B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B8F0E-1135-4709-8772-501E210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DCB19-FC0E-4CB0-8359-832F2C5F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Exposure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14F58-8CB2-4E0C-ADF5-7156AF0D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Flags internal_notes and payment_reference in an owner's response.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2805E-7007-4477-838B-590A6B16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25A93-D4FC-4A77-81FA-8EFB4974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8B1A1-27B0-4B8B-8757-C5882F6E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19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Explainable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A1D34-CC35-40C9-AF88-A4E1952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Shows expected behavior, observed evidence, reproduction, and remediation.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50127-85FB-43C8-9049-48FDE0E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8C866-C8D5-4552-A756-FB5D3003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DDC49-306F-4D0C-8FC8-8EDC9239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Safe 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22C41-4439-4E7A-8DAF-25B5C29A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Produces redacted JSON and Markdown reports without bearer values.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CC714-3A27-469A-A055-28D2D472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531E5-D437-41AA-8C94-2D66CE3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5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4041A-D550-4B18-9E1E-5D84E98C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Negative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D0658-CC81-44D0-98CB-4069F2DA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Recognizes HTTP 403 or 404 as correct authorization enforcement.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AFDB5-E274-4CF1-9A73-4419AF7C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81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0165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6E82D3-FD14-43C6-90AE-6DF40DF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84F3E-E9DF-4870-B9A0-6D1F7AF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TECHNICAL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F9A6F-B622-4A4E-AD16-5B50F991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1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Typed components keep parsing, execution, comparison, and reporting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50E19-95AA-452F-A248-0148F35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B23B2-ABD4-4EE2-A01B-675152BF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A15EF-085C-4F87-83FF-867CD821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63529-5768-49D6-80BE-79AFA6BD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75729-129F-4D53-9FF7-24F5665E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DF3B4-9416-424C-9115-A410DA8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 parser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FF5EC-A823-43C3-965E-1889A974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Discover up to 3 GET detail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CF614-341C-4948-80DF-0E9C37CA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A9AF2-E9C5-4542-97C0-7426099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60FEB-DA37-462D-8086-13C50BA7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5A1F5-8ADE-4700-8D5A-BB41F26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5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Two-user auth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24D3A-F579-4D54-A515-BB02C990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Obtain controlled user 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E6601-69D7-4A43-80D3-17A88E7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38A67-45BF-4A2B-9731-3D491DC5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C0FBF-4D0E-4EA0-8601-F9A92DE2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77183-D3BB-4633-B5B9-C255893A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5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HTTP executor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6EE71-1700-46D6-9B94-1CCD383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Enforce target and response bounds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3C1F3-9098-4354-87D4-33FA038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6B5FA-9B60-47CC-A871-5BD9D748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31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D63D0-D70D-4C4D-B27D-F0DBCAD5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73745-B794-44A4-9C82-BBC783E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E21F7-5809-4C97-9368-D7B8F7D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Match cross-user and owner objects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34A02-3D4D-442B-8050-30A95136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22BC7-BE01-486F-861F-C2D0E371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E9BB0-0C5B-425C-B2D1-5F4F546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93221A-88DB-4132-84E2-8D9DAEC5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Reporter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A5BEB6-A972-4F84-A2FF-EDC9275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Rank, redact, and export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5D9037-1F26-45D9-81EA-75C7C87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Execution boundaries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E9730-D6BF-427A-94E1-C54A4717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Loopback HTTP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816E4-9064-47EC-9296-79741ECA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Read-only GET scan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2F1165-C635-46C2-8DFF-3B4A3F5F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5 second request timeout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C928CB-0F4D-4F96-98D0-03C05FC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 MB response 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749A6D-59CE-4E34-9D29-96AA6F1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Redirects 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7AFAE8-2567-4771-937E-A299391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Secrets redacted</a:t>
            </a:r>
          </a:p>
        </p:txBody>
      </p:sp>
    </p:spTree>
    <p:extLst>
      <p:ext uri="{BB962C8B-B14F-4D97-AF65-F5344CB8AC3E}">
        <p14:creationId xmlns:p14="http://schemas.microsoft.com/office/powerpoint/2010/main" val="1151562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29877-75F3-4094-8E8F-18A02175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C841E-E4DD-4D0E-8E36-CBF39837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87B27-74EB-4A1A-96C5-56FF7399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25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vulnerable scan produces one Critical and one High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09333-0FEF-41A2-9025-8B115652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78188-5A47-4412-AEE5-95CE282F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D92F-1F71-4AB8-83CA-DAC42D79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90502d5b34cd5"/>
          <a:srcRect xmlns:a="http://schemas.openxmlformats.org/drawingml/2006/main" l="0" t="34322" r="0" b="3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111252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B533A-F920-49B5-B4BB-5C27CFE5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1920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5B8F2-6E35-4157-9002-2F7EB9B7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76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Critical  +  1 High</a:t>
            </a:r>
          </a:p>
        </p:txBody>
      </p:sp>
    </p:spTree>
    <p:extLst>
      <p:ext uri="{BB962C8B-B14F-4D97-AF65-F5344CB8AC3E}">
        <p14:creationId xmlns:p14="http://schemas.microsoft.com/office/powerpoint/2010/main" val="444669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08A6E-F79A-409B-A84A-3363FC9E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A0FA-8876-406F-9183-F66DD375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EXPLAINABLE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D7FEF-5937-47FA-872C-6F484725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7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Each finding shows what happened, how to reproduce it, and how to fix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90407-82EA-4F04-B4C3-698A05C9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17D2-D91F-447A-B3B1-F7C3BFEF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43393-D4D6-472B-958A-A4DC373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e5caba4d646bc"/>
          <a:srcRect xmlns:a="http://schemas.openxmlformats.org/drawingml/2006/main" l="0" t="30353" r="0" b="30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47800"/>
            <a:ext cx="11125200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46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D2664-AD26-4B2F-AFBE-021CBB3D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CD19D-37DF-46B1-9D29-5A95C012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99710-3ED3-4912-A042-1FD1728D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secure target stays clean while the same scanner runs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04A94-33B3-4993-BCE2-48F6EB25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D14E5-5A72-417D-8A87-6849FFDD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26E13-8ED6-42E8-8EF0-6EF3356F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4A1E4-1B23-4673-86BD-76A902D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096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8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32141112f4691"/>
          <a:stretch xmlns:a="http://schemas.openxmlformats.org/drawingml/2006/main"/>
        </p:blipFill>
        <p:spPr>
          <a:xfrm xmlns:a="http://schemas.openxmlformats.org/drawingml/2006/main">
            <a:off x="742950" y="2140996"/>
            <a:ext cx="7677150" cy="189020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2D61C-A44D-44D0-A4AF-65378985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7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9EA4A-E691-444D-B5EA-088E317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035A0-11A2-480F-A3A7-DB158D04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HTTP 403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B0A04-384E-4B89-846A-28AE8751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cross-user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ACE4B-CEFB-46C8-853A-0BE1E12B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23694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B1770-49F1-41E3-98C1-BF5462E9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Verified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5C560-0D2B-4BE6-B2BA-1165703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44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7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Secure 403 and 404 responses produce no BOLA finding. Mismatched HTTP 200 responses remain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472693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2602F-8AB4-4A7E-93BD-8B1364A1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A9A23-E6E3-49B6-AE5D-37F3356D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SCOPE AND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F3829-D6E3-4903-BDA9-5993305C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 complete local proof with a clear path beyond the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7DBAE-B453-4E7F-AFE9-84BA67B3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C3512-CFF7-4DD5-83C1-EA63B9FB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076BF-CDE3-44D2-B826-27C9EE0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A62A3-C7F8-49D2-889C-2A4D73F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Demonstrated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60A70-CE5B-4DE3-8A76-2BCC77DF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OpenAPI 3.x endpoint discovery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Two-user BOLA proof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Excessive data exposure check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Redacted JSON and Markdown reports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negative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5D65D-94AF-4459-820F-2F1CB417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54F7-90B8-4335-920E-7D957387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Future scanner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7819A-7A35-42C1-A810-85F5AB91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Configurable authentication profiles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Pagination and nested resources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CI enforcement mode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Additional deterministic checks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Deployment after organizer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3F060-744E-4ACB-9C9A-12EE04D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40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0A83C-0060-4E0B-88C5-33691FCA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claim: one user received another user's order from live local requests.</a:t>
            </a:r>
          </a:p>
        </p:txBody>
      </p:sp>
    </p:spTree>
    <p:extLst>
      <p:ext uri="{BB962C8B-B14F-4D97-AF65-F5344CB8AC3E}">
        <p14:creationId xmlns:p14="http://schemas.microsoft.com/office/powerpoint/2010/main" val="220924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2026-09-25T02:33:11.2940000Z</dcterms:created>
  <dcterms:modified xsi:type="dcterms:W3CDTF">2026-09-25T02:33:11.2950000Z</dcterms:modified>
</coreProperties>
</file>