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a3929b3da4a25" /><Relationship Type="http://schemas.openxmlformats.org/officeDocument/2006/relationships/extended-properties" Target="/docProps/app.xml" Id="R3018a3a3a05b4540" /><Relationship Type="http://schemas.openxmlformats.org/officeDocument/2006/relationships/officeDocument" Target="/ppt/presentation.xml" Id="Rdb36581ee6e5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c170dab6c4a36"/>
  </p:sldMasterIdLst>
  <p:notesMasterIdLst>
    <p:notesMasterId xmlns:r="http://schemas.openxmlformats.org/officeDocument/2006/relationships" r:id="Rb665864ed1474b44"/>
  </p:notesMasterIdLst>
  <p:sldIdLst>
    <p:sldId xmlns:r="http://schemas.openxmlformats.org/officeDocument/2006/relationships" id="256" r:id="Rd2ab0d9d6e464b46"/>
    <p:sldId xmlns:r="http://schemas.openxmlformats.org/officeDocument/2006/relationships" id="257" r:id="R1425938d83cb4207"/>
    <p:sldId xmlns:r="http://schemas.openxmlformats.org/officeDocument/2006/relationships" id="258" r:id="R38d2c6681b3f4fa4"/>
    <p:sldId xmlns:r="http://schemas.openxmlformats.org/officeDocument/2006/relationships" id="259" r:id="R54fe202606c7448a"/>
    <p:sldId xmlns:r="http://schemas.openxmlformats.org/officeDocument/2006/relationships" id="260" r:id="R416d6417bb1f4c1b"/>
    <p:sldId xmlns:r="http://schemas.openxmlformats.org/officeDocument/2006/relationships" id="261" r:id="R7ebcef396e544f10"/>
    <p:sldId xmlns:r="http://schemas.openxmlformats.org/officeDocument/2006/relationships" id="262" r:id="Rbd08ed2cbb0341b0"/>
    <p:sldId xmlns:r="http://schemas.openxmlformats.org/officeDocument/2006/relationships" id="263" r:id="Rcf60e050f3dd4abc"/>
    <p:sldId xmlns:r="http://schemas.openxmlformats.org/officeDocument/2006/relationships" id="264" r:id="R54626721ce8f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a12c0a8bf246e6" /><Relationship Type="http://schemas.openxmlformats.org/officeDocument/2006/relationships/slideMaster" Target="/ppt/slideMasters/slideMaster1.xml" Id="Rb28c170dab6c4a36" /><Relationship Type="http://schemas.openxmlformats.org/officeDocument/2006/relationships/notesMaster" Target="/ppt/notesMasters/notesMaster1.xml" Id="Rb665864ed1474b44" /><Relationship Type="http://schemas.openxmlformats.org/officeDocument/2006/relationships/presProps" Target="/ppt/presProps.xml" Id="R6277e4b664a545c7" /><Relationship Type="http://schemas.openxmlformats.org/officeDocument/2006/relationships/tableStyles" Target="/ppt/tableStyles.xml" Id="Rc081c20a2002469e" /><Relationship Type="http://schemas.openxmlformats.org/officeDocument/2006/relationships/slide" Target="/ppt/slides/slide1.xml" Id="Rd2ab0d9d6e464b46" /><Relationship Type="http://schemas.openxmlformats.org/officeDocument/2006/relationships/slide" Target="/ppt/slides/slide2.xml" Id="R1425938d83cb4207" /><Relationship Type="http://schemas.openxmlformats.org/officeDocument/2006/relationships/slide" Target="/ppt/slides/slide3.xml" Id="R38d2c6681b3f4fa4" /><Relationship Type="http://schemas.openxmlformats.org/officeDocument/2006/relationships/slide" Target="/ppt/slides/slide4.xml" Id="R54fe202606c7448a" /><Relationship Type="http://schemas.openxmlformats.org/officeDocument/2006/relationships/slide" Target="/ppt/slides/slide5.xml" Id="R416d6417bb1f4c1b" /><Relationship Type="http://schemas.openxmlformats.org/officeDocument/2006/relationships/slide" Target="/ppt/slides/slide6.xml" Id="R7ebcef396e544f10" /><Relationship Type="http://schemas.openxmlformats.org/officeDocument/2006/relationships/slide" Target="/ppt/slides/slide7.xml" Id="Rbd08ed2cbb0341b0" /><Relationship Type="http://schemas.openxmlformats.org/officeDocument/2006/relationships/slide" Target="/ppt/slides/slide8.xml" Id="Rcf60e050f3dd4abc" /><Relationship Type="http://schemas.openxmlformats.org/officeDocument/2006/relationships/slide" Target="/ppt/slides/slide9.xml" Id="R54626721ce8f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6cca9ee17c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d14aa568c4957" /><Relationship Type="http://schemas.openxmlformats.org/officeDocument/2006/relationships/notesMaster" Target="/ppt/notesMasters/notesMaster1.xml" Id="Rf17313145aae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fe0f6dd6fd4333" /><Relationship Type="http://schemas.openxmlformats.org/officeDocument/2006/relationships/notesMaster" Target="/ppt/notesMasters/notesMaster1.xml" Id="Rdfae70a05b3b4a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92388d424246ea" /><Relationship Type="http://schemas.openxmlformats.org/officeDocument/2006/relationships/notesMaster" Target="/ppt/notesMasters/notesMaster1.xml" Id="Rfa0322596995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ab662b099d4409" /><Relationship Type="http://schemas.openxmlformats.org/officeDocument/2006/relationships/notesMaster" Target="/ppt/notesMasters/notesMaster1.xml" Id="Rdd58450857cb46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a28db324a2491e" /><Relationship Type="http://schemas.openxmlformats.org/officeDocument/2006/relationships/notesMaster" Target="/ppt/notesMasters/notesMaster1.xml" Id="R028beb7cb35945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2033b0a394d9a" /><Relationship Type="http://schemas.openxmlformats.org/officeDocument/2006/relationships/notesMaster" Target="/ppt/notesMasters/notesMaster1.xml" Id="Rfe9cd2bbe31649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f287441b014740" /><Relationship Type="http://schemas.openxmlformats.org/officeDocument/2006/relationships/notesMaster" Target="/ppt/notesMasters/notesMaster1.xml" Id="R86f7e124429c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9aa8ce31d4e4b" /><Relationship Type="http://schemas.openxmlformats.org/officeDocument/2006/relationships/notesMaster" Target="/ppt/notesMasters/notesMaster1.xml" Id="R8fe22fb6456346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26e9da289d4c54" /><Relationship Type="http://schemas.openxmlformats.org/officeDocument/2006/relationships/notesMaster" Target="/ppt/notesMasters/notesMaster1.xml" Id="Rc56a02e6ffb5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and scanner/comparison.py. The vulnerable fixture returns order 1002 to User A with HTTP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scanner/core.py, app/seed.py, and the deterministic demo data described in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SOLUTION_OVERVIEW.md, scanner/checks.py, scanner/report_generator.py, and scanner/redaction.py.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ARCHITECTURE.md and the typed interfaces implemented under scanner/. FastAPI orchestrates the scan and serves the dashboard and report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from submission/screenshots/vulnerable-overview.png. The scan used live HTTP requests after python -m app.seed.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from submission/screenshots/vulnerable-findings.png. The reproduction request redacts the bearer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submission/screenshots/secure-clean.png and python -m scripts.ci on 2026-09-25. The test run completed with 70 passing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AGENTS.md. Hosted persistence exists as a separate foundation, but the scanner remains local-only and does not claim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ee8ff9c15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76e9cc85c94355" /><Relationship Type="http://schemas.openxmlformats.org/officeDocument/2006/relationships/slideLayout" Target="/ppt/slideLayouts/slideLayout1.xml" Id="R7466212f2a27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66212f2a27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41c95ffbd4ef5" /><Relationship Type="http://schemas.openxmlformats.org/officeDocument/2006/relationships/image" Target="/ppt/media/image.png" Id="R5db60e71aafb4210" /><Relationship Type="http://schemas.openxmlformats.org/officeDocument/2006/relationships/notesSlide" Target="/ppt/notesSlides/notesSlide1.xml" Id="R9baa8656cca1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a48b70dc04ee2" /><Relationship Type="http://schemas.openxmlformats.org/officeDocument/2006/relationships/notesSlide" Target="/ppt/notesSlides/notesSlide2.xml" Id="R1f5e84f42bc9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cc0cb99484a02" /><Relationship Type="http://schemas.openxmlformats.org/officeDocument/2006/relationships/notesSlide" Target="/ppt/notesSlides/notesSlide3.xml" Id="R8b67c994478645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927bc09f34314" /><Relationship Type="http://schemas.openxmlformats.org/officeDocument/2006/relationships/notesSlide" Target="/ppt/notesSlides/notesSlide4.xml" Id="R34a4307b56e547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e817dd6eb451e" /><Relationship Type="http://schemas.openxmlformats.org/officeDocument/2006/relationships/notesSlide" Target="/ppt/notesSlides/notesSlide5.xml" Id="R24fe7a4dd5e0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bac65957f48f8" /><Relationship Type="http://schemas.openxmlformats.org/officeDocument/2006/relationships/image" Target="/ppt/media/image2.png" Id="R3e53c0a5916a423c" /><Relationship Type="http://schemas.openxmlformats.org/officeDocument/2006/relationships/notesSlide" Target="/ppt/notesSlides/notesSlide6.xml" Id="R6feb825878c048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4fdbe513e43d7" /><Relationship Type="http://schemas.openxmlformats.org/officeDocument/2006/relationships/image" Target="/ppt/media/image3.png" Id="Ree2c8703c58c4ced" /><Relationship Type="http://schemas.openxmlformats.org/officeDocument/2006/relationships/notesSlide" Target="/ppt/notesSlides/notesSlide7.xml" Id="Rcd3bcaf06f634d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fabaad54c4231" /><Relationship Type="http://schemas.openxmlformats.org/officeDocument/2006/relationships/image" Target="/ppt/media/image4.png" Id="Re7fa3b5b54564570" /><Relationship Type="http://schemas.openxmlformats.org/officeDocument/2006/relationships/notesSlide" Target="/ppt/notesSlides/notesSlide8.xml" Id="R0147d68d2b6847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8a7c338d54251" /><Relationship Type="http://schemas.openxmlformats.org/officeDocument/2006/relationships/notesSlide" Target="/ppt/notesSlides/notesSlide9.xml" Id="R66c2aa0e7a0e44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5F4EC-1AD8-419E-ABE2-8A9C00AB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AMIHACKS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4DC12-04A0-4E47-99F0-5EADFF24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SentinelAPI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8C039-7AEF-4EBC-9F3A-7CEB74E1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Live proof of broken object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EC2B0-1C3E-49CE-B55D-CB0A3D90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Core functionality, user journey, and technical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8AE85-9CE6-4EDD-BB7D-24BC0B13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96045-9C09-4895-A3CF-0B830308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ONLY / SANDBOX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60e71aafb4210"/>
          <a:srcRect xmlns:a="http://schemas.openxmlformats.org/drawingml/2006/main" l="0" t="8653" r="0" b="8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514350"/>
            <a:ext cx="5848350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57903-03B9-45B9-8671-5561653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"/>
            <a:ext cx="285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79190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2FA16-E707-420D-8998-266C2153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07661-087F-4361-8712-F3B9547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CORE FUNCTIONALITY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33190-CFEA-4605-85E7-FF8F94C2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identities turn a valid request into authorization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F9726-2A8A-4458-BF00-34B06DA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F7F21-7A2B-4B54-AD99-49CAD4FF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F69A7-843D-4E17-BFB8-6F612F7D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D22E2-70D0-4863-A3B1-7822193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5BD6C-B1F2-480E-BD8C-AE04765F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cross-user HTTP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00137-CC80-4B15-8C73-4C2C1D32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D1129-D7CA-450A-8804-E29858B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User A requests User B's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E7093-AB62-4A06-9ADE-F33E99C9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first records each user's owned object. It then sends User A's valid token to User B's object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EFBE9-9C13-48DA-A87A-E81FFBD8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FEDEA-4A5B-46CD-9BAC-B91AB322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403 or 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458F8-0B9E-46AC-AD28-488D899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Vulnerable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80B5B-6545-4376-8F80-1830E92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95F05-4128-4A61-9299-93B89342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Confirmation requires the returned object to match User B's owner baseline.</a:t>
            </a:r>
          </a:p>
        </p:txBody>
      </p:sp>
    </p:spTree>
    <p:extLst>
      <p:ext uri="{BB962C8B-B14F-4D97-AF65-F5344CB8AC3E}">
        <p14:creationId xmlns:p14="http://schemas.microsoft.com/office/powerpoint/2010/main" val="1816381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8A4829-055D-40ED-B16F-0277606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EB79B-338E-4CAE-BC43-B932579C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END-TO-END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2CE59-C985-46AD-A26E-40F5B995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One scan moves from an OpenAPI file to reproducible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5BACA-9E91-456E-AC51-E0658D5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31E48-C1E3-4DCA-B0A3-B8692BA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34D99-F877-49DE-8F24-88500CC3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5CA80-42FB-49B7-9D4D-C65E24C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06363-36C0-4958-B015-A22861FD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D118B-49DE-4B5B-9A2D-80D78A5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3544F-30E4-44F2-B5BE-EFF20FE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Choose the local API origin and OpenAPI 3.x 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A43E0-8B3A-430E-9C35-1FD9BEE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50E89-F86E-4544-A41D-9C2B9AD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7AC13-A24A-4304-AC78-3836B40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9346B-B29D-49FC-8F3B-333365DE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Find a supported authenticated collection and detail route.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79D0B-1646-4D63-931A-E624C042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70C40-0C5B-4C6B-948B-D57FF9DB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C034E-FE74-412D-8FB4-A8A59E1D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8E645-8FBC-4026-B0E6-241019C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Sign in as two controlled sandbox users.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AAC50-CDAA-42C9-95E4-5072D7B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C52C2-178A-49BA-B007-BE36D06B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391FA-C005-4D59-B61C-4FD41026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A4909-42A7-4B7A-B6C0-BBE756EC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Read one owned object for each identity.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06F82-45B5-4D02-919E-0FEDF36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A5727-3FCA-44C9-82C8-5767CAB1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8B364-72BA-45D8-BA8A-69EB9042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8DB7F-80F4-497E-9549-A93A8FB7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Request User B's object with User A's token.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B1E3F-D91F-473A-A17F-CAE8C46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32B27-9C65-4E24-BC31-1D0893BF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B59F9-7E7F-4E7B-8558-6C8C7A08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DD75A-476D-4332-ADBD-4F79AE9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Inspect evidence and download the redacted report.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3D36E-0760-499A-A944-8B8D055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087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F9A565-D6CB-4265-A557-75593209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LIVE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82529-B354-4739-85D1-1487F952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A owns 1001. User B owns 1002. User A receives 1002 from the vulnerable route.</a:t>
            </a:r>
          </a:p>
        </p:txBody>
      </p:sp>
    </p:spTree>
    <p:extLst>
      <p:ext uri="{BB962C8B-B14F-4D97-AF65-F5344CB8AC3E}">
        <p14:creationId xmlns:p14="http://schemas.microsoft.com/office/powerpoint/2010/main" val="9317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0F54B-9349-40C9-AAF5-B7F66E0F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90E18-F8D5-4248-A705-E0EB573D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46469-07B7-459C-A100-351F247D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MVP prioritizes reliable proof over broad vulnerability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7FC40-2FC8-44E7-B35D-7FD0F636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DFE2F-2CB6-437C-8DD4-4E5AAC1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97AB2-9179-4871-86B5-B4EC8DD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1354F-D2E4-44CB-A7DD-8DD1964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DB638-C7A2-47B2-A2AC-0F3F1181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CD0BF-D615-4478-8992-C56D2AE7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Finds supported authenticated object routes from the supplied specification.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44677-E3FB-49E6-B1E3-9E535A6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830D6-7873-449F-8460-CF3C663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FF86C-3F4C-4AE5-AB74-AE85F9BE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Two-user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0FFCC-E8DB-40BC-B9F6-433BE80E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Establishes ownership before testing cross-user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A9BEB-54BC-40F7-A134-6988DAD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3B55B-F15E-4358-BFFC-0EEFD0B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67965-1A4E-43F4-B859-74E7E672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Exposure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0066F-A1B9-449F-97B0-6B050183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Flags internal_notes and payment_reference in an owner's response.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3B77D-C3BE-489E-8012-1F697974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DF18B-7509-474D-90F3-B072072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B1CF-1983-4687-A0B6-58D3BF08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19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Explainable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F201C-2EAA-4095-9404-BDFCB029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Shows expected behavior, observed evidence, reproduction, and remediation.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4BA1A-F8B7-440C-BC37-BA29B6C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CC956-FA76-4365-B114-67076C6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66EEE-A959-46F9-BF36-3315E72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Safe 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8C371-7317-429C-92B0-78C7E865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Produces redacted JSON and Markdown reports without bearer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4C33F-2137-4FCB-91C2-EF53875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FD3E9-5E46-496F-8C9A-7164E9A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5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1057C-DCD7-4115-9AF3-075E5FA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Negative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669BA-BAC5-4362-811E-99B7EF06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Recognizes HTTP 403 or 404 as correct authorization enforcement.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CDD3F-F2A2-4506-A95D-94123EF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81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1905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0513D-89F7-4A95-9284-B438339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DA32-B683-4551-AA10-7863999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F9C49-D7F8-43F9-9E35-BAE87F7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Typed components keep parsing, execution, comparison, and reporting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7818-5F0D-4B03-9561-2A06A5D9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FC4D-16E2-4D5F-9893-BC0F0A35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FABC7-BA87-4324-928C-EC80AD9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A9E69-76C8-4D7F-8AB7-411C005E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33DBE-BD36-4BB8-A7D6-1629108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A171D-B1AA-4241-A9E2-EFE6962C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 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3617B-233F-4C6D-8324-57629444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Discover up to 3 GET detail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6254D-0EF0-41DD-902B-0C468207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E2277-A4A7-46F5-ACD2-48B0C8F2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75282-05D1-44B9-A53A-C3C0A5D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F64F3-E901-4658-A0FD-4DD7BD14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52DEF-35BC-4285-B71A-81AF50A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Obtain controlled user 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67D1A-515B-4725-9897-6D12C2A2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39588-26E0-4388-8E83-B71FFAB9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36143-5628-48EF-8573-C4F1C98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7EC10-1BEA-4CC3-AE9F-A8F8B03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81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Request executor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CDEE9-E8CC-4F8B-AB61-A0A4894B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Enforce target and response bounds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B33D6-6136-42D2-945D-C5E82050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89B78-1FF8-4F03-821B-1B1975D4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31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02729-9DD6-4832-A6EB-D8C3F02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0F2CF-B65D-4AE0-9455-D02D8201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8B307-15D2-4FE3-9DF2-3CFA59C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Match cross-user and owner objects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393D4-C34D-4670-9172-C8864D80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3CCAE5-884A-4090-B2DD-AEA2B0E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D09D3-BCE4-41A4-83E8-D7E277BB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DA735-EFE7-428C-AC09-58828DCF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Reporter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2D055-DE70-4196-AA25-1DAB8B4F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Rank, redact, and export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993B3-DA50-4726-BEC7-A32F478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Execution boundaries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A443C-F185-4AEB-A418-096A8F25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Loopback HTTP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D32CE0-2B58-471F-AD16-59CBE99A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Read-only GET scan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0D2A1-A213-4B86-B209-D632D4BA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5 second request timeout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8C463-EF14-43E5-AF51-27872A7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 MB response 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3631B2-A272-432C-90FC-F40D1199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Redirects 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F9004-CAC0-44CF-819F-9E48F46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Secrets redacted</a:t>
            </a:r>
          </a:p>
        </p:txBody>
      </p:sp>
    </p:spTree>
    <p:extLst>
      <p:ext uri="{BB962C8B-B14F-4D97-AF65-F5344CB8AC3E}">
        <p14:creationId xmlns:p14="http://schemas.microsoft.com/office/powerpoint/2010/main" val="559219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F2699-98F4-42BE-9287-7A416C9F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C40A6-7AA0-4B5B-968E-A2532A9F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88052-3195-45AA-A620-1655C5D4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25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vulnerable scan produces one Critical and one High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8DE07-A764-4E05-93B8-858833C6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9DF5B-482F-450D-9E4F-93B7310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B5A3E-4671-4831-A237-D7A59570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3c0a5916a423c"/>
          <a:srcRect xmlns:a="http://schemas.openxmlformats.org/drawingml/2006/main" l="0" t="34322" r="0" b="3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111252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CD4C8-3247-4BDC-B4F9-DA0E2751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192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06AA9-4E26-4A4B-A0C3-D16589F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Critical  +  1 High</a:t>
            </a:r>
          </a:p>
        </p:txBody>
      </p:sp>
    </p:spTree>
    <p:extLst>
      <p:ext uri="{BB962C8B-B14F-4D97-AF65-F5344CB8AC3E}">
        <p14:creationId xmlns:p14="http://schemas.microsoft.com/office/powerpoint/2010/main" val="1790897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1C82F-75D8-45C6-B884-E6C04872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78258-605A-4FF5-944F-7BE1D41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EXPLAINABLE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A2CB7-EE9E-4D70-9829-72F196E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7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Each finding shows what happened, how to reproduce it, and how to fix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81B6A-656D-41CC-A807-2A316389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4EEFF-E979-4058-86E5-D9A4CE1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8C91A-B6C9-485B-BB30-6257935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c8703c58c4ced"/>
          <a:srcRect xmlns:a="http://schemas.openxmlformats.org/drawingml/2006/main" l="0" t="30353" r="0" b="30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47800"/>
            <a:ext cx="11125200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51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6F28E-7EB7-42F5-B50A-3002C63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CF903-F1D8-4D27-9226-96D7D0D0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AD588-A537-49F3-ADE1-CF12FF5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secure target stays clean while the same scanner runs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5665B-AFE3-4DCF-8776-436DF92B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C5CAE-B92B-496F-A528-E45EACA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CC00F-C0D1-40E5-B63F-F2653B3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F9C33-075D-4BE8-BB1D-39F7D388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096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8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a3b5b54564570"/>
          <a:stretch xmlns:a="http://schemas.openxmlformats.org/drawingml/2006/main"/>
        </p:blipFill>
        <p:spPr>
          <a:xfrm xmlns:a="http://schemas.openxmlformats.org/drawingml/2006/main">
            <a:off x="742950" y="2140996"/>
            <a:ext cx="7677150" cy="189020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F0844-653C-4D83-B042-5C23417C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7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101CA-59B0-4FD5-8F65-7A68764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5A48C-1BCC-4076-9E67-3926C01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HTTP 403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610B6-4AC3-419D-B295-C50C3F9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cross-user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DF270-B152-4689-BB3C-A438309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23694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95EDB-5ECD-49F4-8369-9E7DA26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Verified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2194B-CA2D-4E17-87E7-BD1309BF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7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Secure 403 and 404 responses produce no BOLA finding. Mismatched HTTP 200 responses remain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457178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8E2CB-F880-40F9-8286-7450507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05FAC-0CFE-4EF1-B842-903A16B9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SCOPE AND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C8285-D31B-4BDF-A2C6-2832C92C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complete local proof with a clear path beyond the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C0B64-F5E3-4D45-A5BB-0FBA7EF7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015B7-EB30-4616-B948-68DFF25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4E2F8-FB6F-4C99-A96F-E6D5EB8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31342-C9F9-4826-B5E1-9662613D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Demonstrated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D71CF-6490-48F6-B9E7-55DB96BA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OpenAPI 3.x endpoint discovery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Two-user BOLA proof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Excessive data exposure check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Redacted JSON and Markdown reports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negative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D1C8B-4938-45BE-85D0-1622E8F3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6E5AB-ADD2-49D1-BDA5-B9728353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Future scanner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506EF-6FC9-44DE-A025-364EF80E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Configurable authentication profiles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Pagination and nested resources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CI enforcement mode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Additional deterministic checks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Deployment after organizer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72F77-764A-4593-A2B0-67E6D3C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0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A267D-1ADE-40E3-96AD-8A2B930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claim: one user received another user's order from live local requests.</a:t>
            </a:r>
          </a:p>
        </p:txBody>
      </p:sp>
    </p:spTree>
    <p:extLst>
      <p:ext uri="{BB962C8B-B14F-4D97-AF65-F5344CB8AC3E}">
        <p14:creationId xmlns:p14="http://schemas.microsoft.com/office/powerpoint/2010/main" val="1309485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2026-09-25T02:31:33.6990000Z</dcterms:created>
  <dcterms:modified xsi:type="dcterms:W3CDTF">2026-09-25T02:31:33.6990000Z</dcterms:modified>
</coreProperties>
</file>